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(15 segundos). Apresente a equipe e o case em uma frase: "Vamos mostrar como desenhamos a infraestrutura de documentos da Startup XYZ, uma plataforma de IA que recebe cerca de 50 mil arquivos por mês." Preencha o nome da equipe e os participantes no rodapé do slide antes de apresentar.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cerca de 2 minutos para os slides 2 a 4. Sugestão: [Aluno 1]. Conte como uma história curta. No início armazenar arquivos parecia simples, mas com 50 mil arquivos por mês a XYZ percebe que não guarda só arquivos: constrói uma base de conhecimento para treinar futuros modelos. Isso cria três desafios: receber sem criar gargalo, garantir que o usuário A nunca acesse o documento do usuário B e preservar o histórico sem que o custo cresça sem controle. Frase-chave: "A solução precisava escalar, proteger e reduzir custos ao mesmo tempo." Não gaste mais que 2 minutos aqui; a maior parte do tempo deve ir para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Separe bem os dois lados. Funcionais são o que o sistema faz: autenticar, receber, isolar, baixar e preservar. Não funcionais são como ele se comporta: escala, segurança, custo, disponibilidade e auditoria. Esses dez itens voltam no slide 8, onde mostramos como cada um foi atendido. Se a banca perguntar de onde vieram os números, diga que o volume de 50 mil arquivos por mês é a premissa do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avaliador precisa entender a proposta antes dos detalhes técnicos, então use palavras simples. Quatro ideias: identificar, autorizar, entregar uma chave temporária e guardar com ciclo de vida. O ponto que mais impressiona é o último parágrafo: a Lambda não recebe o PDF. Ela autoriza a operação e entrega ao cliente uma URL temporária. Isso evita que o backend vire gargalo e deixa o S3 absorver o crescimento do volume. Termina a parte do [Aluno 1].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cerca de 3 minutos para arquitetura e serviços. Sugestão: [Aluno 2]. Conte o fluxo seguindo os números. 1: o cliente faz login no Cognito e recebe o JWT. 2: o app chama o API Gateway com o token, que valida e devolve a URL pré-assinada na resposta. 3: o API Gateway invoca a Lambda, que lê o sub do token e define o prefixo do usuário. 4: a Lambda assume uma role no STS com uma session policy limitada ao prefixo e assina a URL com essa credencial de 15 minutos. 5 (seta azul): o cliente envia ou baixa o arquivo direto do S3 com a URL; o arquivo nunca passa por API Gateway nem Lambda. Dentro do S3, uma regra de lifecycle muda a storage class para Deep Archive após 365 dias: é o mesmo bucket, não um segundo serviço. Na base: KMS cifra os objetos, GuardDuty escaneia uploads e CloudWatch e CloudTrail dão logs, alarmes e auditoria. Diga que não há VPC de propósito. Se a banca perguntar por que a Lambda não recebe o arquivo: limites de payload de 6 MB na Lambda e 10 MB no API Gateway (confirme os valores atuais na documentação).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cada serviço responda três perguntas: o que faz, como se conecta à solução e por que foi escolhido. A linha azul de cada card é o porquê. Cognito: identidade gerenciada, JWT de curta duração. API Gateway: validação do token e throttling. Lambda: paga só pelo uso, e não recebe o arquivo. STS: credencial temporária com session policy, que dá o isolamento real. S3 com KMS: durabilidade de 11 noves, classes de armazenamento e chave auditável. GuardDuty e CloudWatch: detecção de malware em uploads e observabilidade. Se você falar "S3 é um serviço de armazenamento de objetos escalável", passe logo para o "por que aqui": documentos imutáveis, volume crescente, custo por classe. Todos do grupo devem saber explicar qualquer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o grupo mostra maturidade: cada escolha vem com a alternativa descartada e o motivo. Serverless porque a ingestão é variável. API Gateway em vez de Function URL por causa do authorizer JWT e do throttling. Um bucket com prefixo por usuário em vez de um bucket por cliente: uma única política, um lifecycle e uma chave para todos, e não multiplica recursos. Não use o argumento antigo do limite de 100 buckets; o limite padrão foi ampliado, então o argumento hoje é de gestão. SSE-KMS dá controle e auditoria da chave; não diga que a LGPD exige KMS. Deep Archive porque depois de 12 meses o acesso deixa de ser operacional e vira retenção. Termine assumindo as limitações antes que a banca pergunte: restore em horas, falha de região inteira não coberta hoje e uma chamada ao STS por pedido. Isso mostra honestidade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avaliador precisa enxergar que todos os requisitos do slide 3 foram contemplados. Percorra a tabela de cima para baixo, uma frase por linha. Se algum item da tabela não estiver implementado de fato no projeto (por exemplo GuardDuty ou a session policy), diga isso claramente e mova o item para "evolução" no slide 15, em vez de apresentar como pronto. A banca costuma pedir para ver no console aquilo que foi afirmado.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Sugestão: [Aluno 3] começa aqui e cobre escalabilidade, falhas, segurança e custos em cerca de 3 minutos. A conta do slide: 50 mil por mês dividido por 30 dias, 24 horas e 60 minutos dá aproximadamente 1,2 documento por minuto em média. Picos existem, mas mesmo com 10 vezes mais o volume é pequeno para serviços gerenciados. A resposta à pergunta "o que acontece com 10 vezes mais usuários" é: o desenho não muda, porque o upload vai direto ao S3 e a Lambda só assina URLs. Seja honesto sobre o único ponto de atenção: quotas de concorrência da Lambda e de requisições ao KMS, que podem ser revisadas e ampliadas; Bucket Keys reduzem as chamadas ao KMS. Confirme as quotas atuais na documentação da 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Responda a pergunta do manual: "a aplicação continua disponível mesmo diante de falhas?". Instância: não existe, porque os serviços são gerenciados. Zona de disponibilidade: o S3 Standard replica em pelo menos três zonas e os serviços regionais continuam. Erros do dia a dia: o cliente faz retry com espera crescente quando recebe 429 e pede uma nova URL quando a antiga expira. Diga com clareza o que não está coberto: a falha de uma região inteira. A evolução proposta é replicação entre regiões e infraestrutura como código para recriar a stack em outra região. Não prometa RTO ou RPO de região que o projeto não implementa.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mais provável da banca é: "O que impede o usuário A de pedir a URL do usuário B?". Este slide responde. O ponto central: isolamento por credencial, não por convenção. Uma Lambda com acesso ao bucket inteiro que escolhe o prefixo no código depende de nunca haver bug. Aqui, a cada pedido a Lambda chama sts:AssumeRole com uma session policy limitada ao prefixo do usuário, e assina a URL com essa credencial temporária. A permissão efetiva é a interseção da role com a session policy, então a URL não alcança outro prefixo mesmo se houver bug. Detalhe técnico para usar se perguntarem: a condition key s3:prefix só vale para ListBucket; para Get e Put a restrição vai no ARN do recurso. Identidade, dados e rede são os três eixos que o manual pede. Sobre rede: não usamos VPC porque nenhum recurso exige rede privada, e os controles estão em IAM, bucket policy, TLS e throttling. Se algum controle citado não foi implementado, diga que é evolução.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o grupo pensou em custo, não só em função. Conta usada: 50 mil documentos por mês de cerca de 1 MB dão 50 GB por mês. Com a janela de 12 meses em Standard, são 600 GB, cerca de US$ 14 por mês em us-east-1. Em três anos o arquivo em Deep Archive soma 1,8 TB, cerca de US$ 2 por mês. A transição de lifecycle custa cerca de US$ 0,05 por mil objetos, ou seja, ordem de US$ 2,50 para 50 mil. Serviços serverless somam de centavos a poucos dólares. Total: algo como US$ 20 a 25 por mês. Atenção: São Paulo (sa-east-1) é mais cara que us-east-1, e o tamanho médio real dos documentos muda tudo; refaça a conta na AWS Pricing Calculator com os números do grupo e cole o link no slide. Se perguntarem como reduzir: Intelligent-Tiering ou Standard-IA após 30 dias. Bônus da banca: mostrar o AWS Budgets ou o alarme de billing no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manual pede dois blocos: como proteger os dados e como recuperar a aplicação. Dados: versioning cobre sobrescrita e exclusão acidental; versões antigas expiram para o custo não crescer; o S3 tem durabilidade de 11 noves. Object Lock é opcional e só se houver requisito de imutabilidade. Recuperação: o tempo depende da classe. No Standard é imediato. No Deep Archive o restore leva cerca de 12 horas no modo padrão e até 48 horas em lote, e tem custo. Sobre recriar a aplicação: o texto entre colchetes precisa ser trocado. Se o grupo tem Terraform, CloudFormation ou scripts, cite qual e o tempo estimado para recriar API Gateway, Lambda e permissões. Se não tem, diga que é a próxima evolução. Não invente um tempo de recuperação.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cerca de 3 minutos. Sugestão: [Aluno 4]. A demonstração é uma das partes mais importantes: não basta dizer que funciona, mostre funcionando. Ensaie o roteiro completo antes e grave um vídeo de reserva caso a internet ou o console falhe. O passo mais forte é o 4: tentar acessar o prefixo de outro usuário e mostrar o AccessDenied, porque prova o isolamento na prática. Mantenha abertas, em abas já logadas: o app, o console do S3 no prefixo do usuário, a regra de lifecycle, o CloudWatch e o AWS Budgets. Ajuste a tabela se algum passo não existir no projeto real. Não reserve a demonstração para o último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parte não é obrigatória, mas grupos que mostram visão estratégica podem ser considerados em destaque. As melhorias não precisam estar implementadas, mas precisam ser propostas e justificadas. Ligue cada card a uma pergunta que a banca costuma fazer. Como evoluiria em um ano: IaC e CI/CD, observabilidade. Como atenderia dez vezes mais: quotas e multi-região. Como reduzir custo: Intelligent-Tiering e restores em lote. Como aumentar a segurança: Object Lock, Macie e ambiente de treino separado com dados anonimizados. Como melhorar a experiência do cliente: alarmes e dashboard permitem agir antes de o cliente perceber um problema. Se algum item já foi implementado, mova para o slide 8 e conte como diferencial.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em 1 a 2 minutos. Retome as quatro perguntas do manual: qual era o problema, o que foi construído, o que o cliente ganhou e como a solução evolui. Termine com a frase final, olhando para a banca e sem ler o slide: "Projetamos uma estratégia de armazenamento orientada ao ciclo de vida do dado, onde segurança, isolamento, escala e custo fazem parte da própria arquitetura." Depois abra para perguntas. Lembre que qualquer integrante pode receber a pergunta. Regra de ouro: ao final, a banca deve saber qual problema foi resolvido, como a solução o resolve e por que foi a melhor escolha. Perguntas prováveis: o que impede o usuário A de ver o documento do B; o que acontece se a Lambda tiver um bug; como recuperar um documento de dois anos atrás e quanto custa.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17600" y="812800"/>
            <a:ext cx="1056944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spc="150" kern="0" dirty="0">
                <a:solidFill>
                  <a:srgbClr val="FF99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TCC · PROJETO AWS · CASE STARTUP XYZ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17600" y="2451199"/>
            <a:ext cx="10569448" cy="141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F4F6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Gestão de documentos para IA na AWS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117600" y="4041080"/>
            <a:ext cx="1056944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BFD0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Arquitetura serverless, segura e otimizada em custo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7600" y="5778500"/>
            <a:ext cx="105694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FB3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Equipe: Athos · Gabriel · Jhonatan · Lucas · Rafael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ENTENDIMENTO DO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81410"/>
            <a:ext cx="10883392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Guardar arquivos virou construir uma base de conhecimento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432546"/>
            <a:ext cx="3380284" cy="1974850"/>
          </a:xfrm>
          <a:prstGeom prst="roundRect">
            <a:avLst>
              <a:gd name="adj" fmla="val 4984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689721"/>
            <a:ext cx="295191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cliente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3150" y="3083421"/>
            <a:ext cx="295191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XYZ, uma plataforma SaaS de IA que extrai informações de PDFs e imagens enviados por seus clientes.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809" y="2432546"/>
            <a:ext cx="3380383" cy="1974850"/>
          </a:xfrm>
          <a:prstGeom prst="roundRect">
            <a:avLst>
              <a:gd name="adj" fmla="val 4984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2984" y="2689721"/>
            <a:ext cx="295201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problema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2984" y="3083421"/>
            <a:ext cx="2952014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Cerca de 50 mil arquivos novos por mês, que precisam ser recebidos, isolados por cliente e guardados por anos.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5741" y="2432546"/>
            <a:ext cx="3380284" cy="1974850"/>
          </a:xfrm>
          <a:prstGeom prst="roundRect">
            <a:avLst>
              <a:gd name="adj" fmla="val 4984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2916" y="2689721"/>
            <a:ext cx="295191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impacto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52916" y="3083421"/>
            <a:ext cx="295191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Gargalo no backend, risco de um cliente ver o documento de outro e custo que cresce junto com o histórico.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38200" y="4664571"/>
            <a:ext cx="0" cy="386060"/>
          </a:xfrm>
          <a:prstGeom prst="line">
            <a:avLst/>
          </a:prstGeom>
          <a:noFill/>
          <a:ln w="508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1400" y="4715371"/>
            <a:ext cx="890519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Apagar o histórico não é opção: cada documento é matéria-prima para treinar modelos futuros.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02 / 16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LEVANTAMENTO DE REQUISITOS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814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que a solução precisa fazer e como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5566"/>
            <a:ext cx="5181600" cy="2628900"/>
          </a:xfrm>
          <a:prstGeom prst="roundRect">
            <a:avLst>
              <a:gd name="adj" fmla="val 3744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50" y="2268141"/>
            <a:ext cx="475494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Requisitos funcionais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69670" y="2712641"/>
            <a:ext cx="4676203" cy="164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Autenticar os usuários</a:t>
            </a:r>
            <a:endParaRPr lang="en-US" sz="1500" dirty="0"/>
          </a:p>
          <a:p>
            <a:pPr algn="l" marL="182880" indent="-18288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Receber PDF e imagem sem gargalo</a:t>
            </a:r>
            <a:endParaRPr lang="en-US" sz="1500" dirty="0"/>
          </a:p>
          <a:p>
            <a:pPr algn="l" marL="182880" indent="-18288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Isolar os documentos por cliente</a:t>
            </a:r>
            <a:endParaRPr lang="en-US" sz="1500" dirty="0"/>
          </a:p>
          <a:p>
            <a:pPr algn="l" marL="182880" indent="-18288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Permitir download seguro</a:t>
            </a:r>
            <a:endParaRPr lang="en-US" sz="1500" dirty="0"/>
          </a:p>
          <a:p>
            <a:pPr algn="l" marL="182880" indent="-18288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Preservar o histórico por anos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03950" y="1982391"/>
            <a:ext cx="5175250" cy="2635250"/>
          </a:xfrm>
          <a:prstGeom prst="roundRect">
            <a:avLst>
              <a:gd name="adj" fmla="val 3855"/>
            </a:avLst>
          </a:prstGeom>
          <a:solidFill>
            <a:srgbClr val="0F2A4A"/>
          </a:solidFill>
          <a:ln/>
        </p:spPr>
      </p:sp>
      <p:sp>
        <p:nvSpPr>
          <p:cNvPr id="8" name="Text 6"/>
          <p:cNvSpPr/>
          <p:nvPr/>
        </p:nvSpPr>
        <p:spPr>
          <a:xfrm>
            <a:off x="6483350" y="2261791"/>
            <a:ext cx="475494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4F6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Requisitos não funcionais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54470" y="2706291"/>
            <a:ext cx="4676203" cy="164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Escalar com cerca de 50 mil arquivos por mês</a:t>
            </a:r>
            <a:endParaRPr lang="en-US" sz="1500" dirty="0"/>
          </a:p>
          <a:p>
            <a:pPr algn="l" marL="182880" indent="-18288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Segurança e privacidade (LGPD)</a:t>
            </a:r>
            <a:endParaRPr lang="en-US" sz="1500" dirty="0"/>
          </a:p>
          <a:p>
            <a:pPr algn="l" marL="182880" indent="-18288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 proporcional ao uso</a:t>
            </a:r>
            <a:endParaRPr lang="en-US" sz="1500" dirty="0"/>
          </a:p>
          <a:p>
            <a:pPr algn="l" marL="182880" indent="-18288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Alta disponibilidade sem gerenciar servidores</a:t>
            </a:r>
            <a:endParaRPr lang="en-US" sz="1500" dirty="0"/>
          </a:p>
          <a:p>
            <a:pPr algn="l" marL="182880" indent="-18288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Rastreabilidade e auditoria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03 / 16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VISÃO GERAL DA SOLUÇÃO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814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Como funciona, em linguagem simples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5566"/>
            <a:ext cx="2501900" cy="2446933"/>
          </a:xfrm>
          <a:prstGeom prst="roundRect">
            <a:avLst>
              <a:gd name="adj" fmla="val 4022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21734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2801541"/>
            <a:ext cx="2099501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Identifica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3191371"/>
            <a:ext cx="2099501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usuário faz login e recebe um token que diz quem ele é.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02025" y="1985566"/>
            <a:ext cx="2501900" cy="2446933"/>
          </a:xfrm>
          <a:prstGeom prst="roundRect">
            <a:avLst>
              <a:gd name="adj" fmla="val 4022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3800" y="221734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33800" y="2801541"/>
            <a:ext cx="2099501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Autoriza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33800" y="3191371"/>
            <a:ext cx="2099501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API confere o token e a função decide o que ele pode acessar.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88075" y="1985566"/>
            <a:ext cx="2501900" cy="2446933"/>
          </a:xfrm>
          <a:prstGeom prst="roundRect">
            <a:avLst>
              <a:gd name="adj" fmla="val 4022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850" y="221734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19850" y="2801541"/>
            <a:ext cx="2099501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Entrega uma chave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19850" y="3454202"/>
            <a:ext cx="2099501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URL temporária libera só aquele arquivo, por poucos minutos.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4125" y="1985566"/>
            <a:ext cx="2501900" cy="2446933"/>
          </a:xfrm>
          <a:prstGeom prst="roundRect">
            <a:avLst>
              <a:gd name="adj" fmla="val 4022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5900" y="221734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05900" y="2801541"/>
            <a:ext cx="2099501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Guarda e arquiva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05900" y="3191371"/>
            <a:ext cx="2099501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S3 guarda o arquivo e, após um ano, passa para armazenamento barato.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8200" y="4689673"/>
            <a:ext cx="0" cy="386060"/>
          </a:xfrm>
          <a:prstGeom prst="line">
            <a:avLst/>
          </a:prstGeom>
          <a:noFill/>
          <a:ln w="508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1400" y="4740473"/>
            <a:ext cx="945899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arquivo vai direto do cliente para o S3. O backend só decide quem pode, o quê e por quanto tempo.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04 / 16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ARQUITETURA AWS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06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Fluxo de acesso e fluxo de dados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3252391"/>
            <a:ext cx="1574800" cy="1003300"/>
          </a:xfrm>
          <a:prstGeom prst="roundRect">
            <a:avLst>
              <a:gd name="adj" fmla="val 9494"/>
            </a:avLst>
          </a:prstGeom>
          <a:solidFill>
            <a:srgbClr val="FFFFFF"/>
          </a:solidFill>
          <a:ln w="12700">
            <a:solidFill>
              <a:srgbClr val="B9C3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3614" y="3494980"/>
            <a:ext cx="67667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51347" y="3799780"/>
            <a:ext cx="7612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/ Web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14650" y="1887141"/>
            <a:ext cx="1765300" cy="812800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12700">
            <a:solidFill>
              <a:srgbClr val="B9C3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9460" y="2034480"/>
            <a:ext cx="7263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Cognito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02013" y="2339280"/>
            <a:ext cx="8413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login e JWT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14650" y="3252391"/>
            <a:ext cx="1765300" cy="1003300"/>
          </a:xfrm>
          <a:prstGeom prst="roundRect">
            <a:avLst>
              <a:gd name="adj" fmla="val 9494"/>
            </a:avLst>
          </a:prstGeom>
          <a:solidFill>
            <a:srgbClr val="FFFFFF"/>
          </a:solidFill>
          <a:ln w="12700">
            <a:solidFill>
              <a:srgbClr val="B9C3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1633" y="3494980"/>
            <a:ext cx="120213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Gateway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31654" y="3799780"/>
            <a:ext cx="11820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HTTP API + JWT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64150" y="3252391"/>
            <a:ext cx="1574800" cy="1003300"/>
          </a:xfrm>
          <a:prstGeom prst="roundRect">
            <a:avLst>
              <a:gd name="adj" fmla="val 9494"/>
            </a:avLst>
          </a:prstGeom>
          <a:solidFill>
            <a:srgbClr val="FFF1DC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96248" y="3494980"/>
            <a:ext cx="76130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Lambda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0050" y="3799780"/>
            <a:ext cx="11937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autoriza e assina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64150" y="1887141"/>
            <a:ext cx="1574800" cy="812800"/>
          </a:xfrm>
          <a:prstGeom prst="roundRect">
            <a:avLst>
              <a:gd name="adj" fmla="val 11719"/>
            </a:avLst>
          </a:prstGeom>
          <a:solidFill>
            <a:srgbClr val="EEF1F4"/>
          </a:solidFill>
          <a:ln w="12700">
            <a:solidFill>
              <a:srgbClr val="B9C3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82878" y="2034480"/>
            <a:ext cx="38804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72820" y="2339280"/>
            <a:ext cx="10082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session policy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50150" y="2649141"/>
            <a:ext cx="3822700" cy="2082800"/>
          </a:xfrm>
          <a:prstGeom prst="roundRect">
            <a:avLst>
              <a:gd name="adj" fmla="val 5793"/>
            </a:avLst>
          </a:prstGeom>
          <a:solidFill>
            <a:srgbClr val="E8EEFB"/>
          </a:solidFill>
          <a:ln w="12700">
            <a:solidFill>
              <a:srgbClr val="2F5FD6"/>
            </a:solidFill>
            <a:prstDash val="solid"/>
          </a:ln>
        </p:spPr>
        <p:txBody>
          <a:bodyPr wrap="square" lIns="123413" tIns="98013" rIns="18257" bIns="98013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4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Amazon S3 · bucket privado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02550" y="3157141"/>
            <a:ext cx="1638300" cy="1320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9DB4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12906" y="3429000"/>
            <a:ext cx="106838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S3 Standard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03096" y="3728641"/>
            <a:ext cx="8880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 a 365 dias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66373" y="3992761"/>
            <a:ext cx="11613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acesso imediato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709150" y="3157141"/>
            <a:ext cx="1511300" cy="1320800"/>
          </a:xfrm>
          <a:prstGeom prst="roundRect">
            <a:avLst>
              <a:gd name="adj" fmla="val 6250"/>
            </a:avLst>
          </a:prstGeom>
          <a:solidFill>
            <a:srgbClr val="DCE6FA"/>
          </a:solidFill>
          <a:ln w="12700">
            <a:solidFill>
              <a:srgbClr val="9DB4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17906" y="3429000"/>
            <a:ext cx="114448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Archive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104834" y="3728641"/>
            <a:ext cx="7706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&gt; 365 dias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84470" y="3992761"/>
            <a:ext cx="1211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restore em horas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50150" y="4998641"/>
            <a:ext cx="1574800" cy="622300"/>
          </a:xfrm>
          <a:prstGeom prst="roundRect">
            <a:avLst>
              <a:gd name="adj" fmla="val 15306"/>
            </a:avLst>
          </a:prstGeom>
          <a:solidFill>
            <a:srgbClr val="FFFFFF"/>
          </a:solidFill>
          <a:ln w="12700">
            <a:solidFill>
              <a:srgbClr val="B9C3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50324" y="5066010"/>
            <a:ext cx="4252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KMS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872710" y="5340251"/>
            <a:ext cx="9803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chave própria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328150" y="4998641"/>
            <a:ext cx="2044700" cy="622300"/>
          </a:xfrm>
          <a:prstGeom prst="roundRect">
            <a:avLst>
              <a:gd name="adj" fmla="val 15306"/>
            </a:avLst>
          </a:prstGeom>
          <a:solidFill>
            <a:srgbClr val="FFFFFF"/>
          </a:solidFill>
          <a:ln w="12700">
            <a:solidFill>
              <a:srgbClr val="B9C3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03916" y="5066010"/>
            <a:ext cx="94386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GuardDuty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756775" y="5340251"/>
            <a:ext cx="12381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escaneia uploads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914650" y="4998641"/>
            <a:ext cx="3924300" cy="622300"/>
          </a:xfrm>
          <a:prstGeom prst="roundRect">
            <a:avLst>
              <a:gd name="adj" fmla="val 15306"/>
            </a:avLst>
          </a:prstGeom>
          <a:solidFill>
            <a:srgbClr val="FFFFFF"/>
          </a:solidFill>
          <a:ln w="12700">
            <a:solidFill>
              <a:srgbClr val="B9C3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59609" y="5066010"/>
            <a:ext cx="20954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CloudWatch + CloudTrail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040287" y="5340251"/>
            <a:ext cx="17237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logs, alarmes e auditoria</a:t>
            </a:r>
            <a:endParaRPr lang="en-US" sz="1200" dirty="0"/>
          </a:p>
        </p:txBody>
      </p:sp>
      <p:pic>
        <p:nvPicPr>
          <p:cNvPr id="37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55750" y="2242741"/>
            <a:ext cx="1403350" cy="1054100"/>
          </a:xfrm>
          <a:prstGeom prst="rect">
            <a:avLst/>
          </a:prstGeom>
        </p:spPr>
      </p:pic>
      <p:pic>
        <p:nvPicPr>
          <p:cNvPr id="38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49500" y="3703241"/>
            <a:ext cx="609600" cy="101600"/>
          </a:xfrm>
          <a:prstGeom prst="rect">
            <a:avLst/>
          </a:prstGeom>
        </p:spPr>
      </p:pic>
      <p:pic>
        <p:nvPicPr>
          <p:cNvPr id="39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35500" y="3703241"/>
            <a:ext cx="673100" cy="101600"/>
          </a:xfrm>
          <a:prstGeom prst="rect">
            <a:avLst/>
          </a:prstGeom>
        </p:spPr>
      </p:pic>
      <p:pic>
        <p:nvPicPr>
          <p:cNvPr id="40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00750" y="2655491"/>
            <a:ext cx="101600" cy="641350"/>
          </a:xfrm>
          <a:prstGeom prst="rect">
            <a:avLst/>
          </a:prstGeom>
        </p:spPr>
      </p:pic>
      <p:pic>
        <p:nvPicPr>
          <p:cNvPr id="41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543050" y="4198541"/>
            <a:ext cx="6064250" cy="412750"/>
          </a:xfrm>
          <a:prstGeom prst="rect">
            <a:avLst/>
          </a:prstGeom>
        </p:spPr>
      </p:pic>
      <p:pic>
        <p:nvPicPr>
          <p:cNvPr id="42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296400" y="3766741"/>
            <a:ext cx="457200" cy="10160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479550" y="264279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arcTo hR="127000" wR="127000" stAng="16200000" swAng="5400000"/>
                <a:lnTo>
                  <a:pt x="254000" y="127000"/>
                </a:lnTo>
                <a:arcTo hR="127000" wR="127000" stAng="0" swAng="5400000"/>
                <a:lnTo>
                  <a:pt x="127000" y="2540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close/>
              </a:path>
            </a:pathLst>
          </a:custGeom>
          <a:solidFill>
            <a:srgbClr val="0F2A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Text 36"/>
          <p:cNvSpPr/>
          <p:nvPr/>
        </p:nvSpPr>
        <p:spPr>
          <a:xfrm>
            <a:off x="2527300" y="337304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arcTo hR="127000" wR="127000" stAng="16200000" swAng="5400000"/>
                <a:lnTo>
                  <a:pt x="254000" y="127000"/>
                </a:lnTo>
                <a:arcTo hR="127000" wR="127000" stAng="0" swAng="5400000"/>
                <a:lnTo>
                  <a:pt x="127000" y="2540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close/>
              </a:path>
            </a:pathLst>
          </a:custGeom>
          <a:solidFill>
            <a:srgbClr val="0F2A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4845050" y="337304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arcTo hR="127000" wR="127000" stAng="16200000" swAng="5400000"/>
                <a:lnTo>
                  <a:pt x="254000" y="127000"/>
                </a:lnTo>
                <a:arcTo hR="127000" wR="127000" stAng="0" swAng="5400000"/>
                <a:lnTo>
                  <a:pt x="127000" y="2540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close/>
              </a:path>
            </a:pathLst>
          </a:custGeom>
          <a:solidFill>
            <a:srgbClr val="0F2A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6178550" y="284599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arcTo hR="127000" wR="127000" stAng="16200000" swAng="5400000"/>
                <a:lnTo>
                  <a:pt x="254000" y="127000"/>
                </a:lnTo>
                <a:arcTo hR="127000" wR="127000" stAng="0" swAng="5400000"/>
                <a:lnTo>
                  <a:pt x="127000" y="2540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close/>
              </a:path>
            </a:pathLst>
          </a:custGeom>
          <a:solidFill>
            <a:srgbClr val="0F2A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7067550" y="423029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arcTo hR="127000" wR="127000" stAng="16200000" swAng="5400000"/>
                <a:lnTo>
                  <a:pt x="254000" y="127000"/>
                </a:lnTo>
                <a:arcTo hR="127000" wR="127000" stAng="0" swAng="5400000"/>
                <a:lnTo>
                  <a:pt x="127000" y="2540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close/>
              </a:path>
            </a:pathLst>
          </a:custGeom>
          <a:solidFill>
            <a:srgbClr val="2F5FD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05 / 16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SERVIÇOS AWS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06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que cada serviço faz e por que o escolhemos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3966"/>
            <a:ext cx="3397250" cy="1213941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2064941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Cognito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950" y="2391271"/>
            <a:ext cx="31263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Autentica usuários e emite o JWT.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6950" y="2685852"/>
            <a:ext cx="31263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4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Login pronto, sem construir do zero.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7375" y="1883966"/>
            <a:ext cx="3397250" cy="1213941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8350" y="2064941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Gateway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8350" y="2391271"/>
            <a:ext cx="31263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Porta de entrada HTTPS da API.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8350" y="2685852"/>
            <a:ext cx="31263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4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 o JWT e limita abusos.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8775" y="1883966"/>
            <a:ext cx="3397250" cy="1213941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9750" y="2064941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Lambda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59750" y="2391271"/>
            <a:ext cx="31263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Código que autoriza e assina a URL.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59750" y="2685852"/>
            <a:ext cx="31263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4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Paga só pelo uso e não recebe o arquivo.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3282057"/>
            <a:ext cx="3397250" cy="1676102"/>
          </a:xfrm>
          <a:prstGeom prst="roundRect">
            <a:avLst>
              <a:gd name="adj" fmla="val 5872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950" y="3463032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96950" y="3789363"/>
            <a:ext cx="312635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Emite credenciais temporárias e restritas.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96950" y="4315023"/>
            <a:ext cx="31263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4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Isola cada usuário mesmo com bug.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97375" y="3282057"/>
            <a:ext cx="3397250" cy="1676102"/>
          </a:xfrm>
          <a:prstGeom prst="roundRect">
            <a:avLst>
              <a:gd name="adj" fmla="val 5872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8350" y="3463032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S3 + KMS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8350" y="3789363"/>
            <a:ext cx="312635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Guarda os objetos, cifrados com chave própria.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8350" y="4315023"/>
            <a:ext cx="312635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4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Durabilidade altíssima e classes de custo.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78775" y="3282057"/>
            <a:ext cx="3397250" cy="1676102"/>
          </a:xfrm>
          <a:prstGeom prst="roundRect">
            <a:avLst>
              <a:gd name="adj" fmla="val 5872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9750" y="3463032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GuardDuty + CloudWatch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159750" y="3789363"/>
            <a:ext cx="312635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Escaneia uploads e centraliza logs e alarmes.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59750" y="4315023"/>
            <a:ext cx="31263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4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Detecção e visibilidade sem servidor.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06 / 16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JUSTIFICATIVA TÉCNICA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06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 que escolhemos essa arquitetura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93491"/>
          <a:ext cx="10553700" cy="2155627"/>
        </p:xfrm>
        <a:graphic>
          <a:graphicData uri="http://schemas.openxmlformats.org/drawingml/2006/table">
            <a:tbl>
              <a:tblPr/>
              <a:tblGrid>
                <a:gridCol w="2743962"/>
                <a:gridCol w="2743962"/>
                <a:gridCol w="5065776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Escolhemos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4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Em vez de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4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Porque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4E7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Serverless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EC2 fixo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Volume variável, sem servidor ocioso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API Gateway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Function URL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Authorizer JWT e throttling nativos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S3 com prefixo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Bucket por cliente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Uma política, um lifecycle, uma chave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SSE-KMS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SSE-S3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Controle e auditoria da chave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Deep Archive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Glacier Instant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Após 12 meses o dado só é retido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8200" y="4252317"/>
            <a:ext cx="0" cy="332680"/>
          </a:xfrm>
          <a:prstGeom prst="line">
            <a:avLst/>
          </a:prstGeom>
          <a:noFill/>
          <a:ln w="50800">
            <a:solidFill>
              <a:srgbClr val="FF99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41400" y="4303117"/>
            <a:ext cx="793883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Limitações assumidas: restore em horas, falha de região não coberta e uma chamada ao STS por pedido.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07 / 16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ATENDIMENTO AOS REQUISITOS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814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requisito e como foi atendido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95091"/>
          <a:ext cx="10553700" cy="2701727"/>
        </p:xfrm>
        <a:graphic>
          <a:graphicData uri="http://schemas.openxmlformats.org/drawingml/2006/table">
            <a:tbl>
              <a:tblPr/>
              <a:tblGrid>
                <a:gridCol w="4221480"/>
                <a:gridCol w="6332220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Requisito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4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Como foi atendido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4E7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Receber 50 mil arquivos por mês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URL pré-assinada e serviços serverless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Usuário A nunca vê o usuário B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Prefixo por usuário e session policy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Preservar o histórico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Versioning e política que só deixa o root apagar versões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Reduzir custo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Lifecycle para Deep Archive após 365 dias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Segurança e privacidade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SSE-KMS, TLS, Block Public Access, CloudTrail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Observabilidade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CloudWatch (dashboard e alarmes), CloudTrail e GuardDuty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08 / 16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3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288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ESCALABILIDADE</a:t>
            </a:r>
            <a:endParaRPr lang="en-US" sz="1288" dirty="0"/>
          </a:p>
        </p:txBody>
      </p:sp>
      <p:sp>
        <p:nvSpPr>
          <p:cNvPr id="3" name="Text 1"/>
          <p:cNvSpPr/>
          <p:nvPr/>
        </p:nvSpPr>
        <p:spPr>
          <a:xfrm>
            <a:off x="812800" y="1275159"/>
            <a:ext cx="10883392" cy="45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21"/>
              </a:lnSpc>
              <a:buNone/>
            </a:pPr>
            <a:r>
              <a:rPr lang="en-US" sz="311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Como a solução cresce</a:t>
            </a:r>
            <a:endParaRPr lang="en-US" sz="3110" dirty="0"/>
          </a:p>
        </p:txBody>
      </p:sp>
      <p:sp>
        <p:nvSpPr>
          <p:cNvPr id="4" name="Shape 2"/>
          <p:cNvSpPr/>
          <p:nvPr/>
        </p:nvSpPr>
        <p:spPr>
          <a:xfrm>
            <a:off x="812800" y="1962944"/>
            <a:ext cx="4064000" cy="3879056"/>
          </a:xfrm>
          <a:prstGeom prst="roundRect">
            <a:avLst>
              <a:gd name="adj" fmla="val 3274"/>
            </a:avLst>
          </a:prstGeom>
          <a:solidFill>
            <a:srgbClr val="0F2A4A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3007122"/>
            <a:ext cx="355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99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≈ 1,2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1117600" y="3997722"/>
            <a:ext cx="355803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CE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documento por minuto em média com 50 mil por mês. Com 10 vezes mais, ainda são cerca de 12 por minuto.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83175" y="1966119"/>
            <a:ext cx="6292850" cy="1185069"/>
          </a:xfrm>
          <a:prstGeom prst="roundRect">
            <a:avLst>
              <a:gd name="adj" fmla="val 8305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89550" y="2172494"/>
            <a:ext cx="6056503" cy="274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3"/>
              </a:lnSpc>
              <a:buNone/>
            </a:pPr>
            <a:r>
              <a:rPr lang="en-US" sz="1716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 gargalo no envio</a:t>
            </a:r>
            <a:endParaRPr lang="en-US" sz="1716" dirty="0"/>
          </a:p>
        </p:txBody>
      </p:sp>
      <p:sp>
        <p:nvSpPr>
          <p:cNvPr id="9" name="Text 7"/>
          <p:cNvSpPr/>
          <p:nvPr/>
        </p:nvSpPr>
        <p:spPr>
          <a:xfrm>
            <a:off x="5289550" y="2472630"/>
            <a:ext cx="6056503" cy="497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1"/>
              </a:lnSpc>
              <a:buNone/>
            </a:pPr>
            <a:r>
              <a:rPr lang="en-US" sz="1365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arquivo vai direto ao S3, que absorve o volume. A Lambda só assina URLs.</a:t>
            </a:r>
            <a:endParaRPr lang="en-US" sz="1365" dirty="0"/>
          </a:p>
        </p:txBody>
      </p:sp>
      <p:sp>
        <p:nvSpPr>
          <p:cNvPr id="10" name="Shape 8"/>
          <p:cNvSpPr/>
          <p:nvPr/>
        </p:nvSpPr>
        <p:spPr>
          <a:xfrm>
            <a:off x="5083175" y="3309938"/>
            <a:ext cx="6292850" cy="1185069"/>
          </a:xfrm>
          <a:prstGeom prst="roundRect">
            <a:avLst>
              <a:gd name="adj" fmla="val 8305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9550" y="3516313"/>
            <a:ext cx="6056503" cy="274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3"/>
              </a:lnSpc>
              <a:buNone/>
            </a:pPr>
            <a:r>
              <a:rPr lang="en-US" sz="1716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Escala sob demanda</a:t>
            </a:r>
            <a:endParaRPr lang="en-US" sz="1716" dirty="0"/>
          </a:p>
        </p:txBody>
      </p:sp>
      <p:sp>
        <p:nvSpPr>
          <p:cNvPr id="12" name="Text 10"/>
          <p:cNvSpPr/>
          <p:nvPr/>
        </p:nvSpPr>
        <p:spPr>
          <a:xfrm>
            <a:off x="5289550" y="3816449"/>
            <a:ext cx="6056503" cy="497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2"/>
              </a:lnSpc>
              <a:buNone/>
            </a:pPr>
            <a:r>
              <a:rPr lang="en-US" sz="133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Lambda e API Gateway crescem com o número de pedidos, sem servidor para dimensionar.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5083175" y="4653756"/>
            <a:ext cx="6292850" cy="1185069"/>
          </a:xfrm>
          <a:prstGeom prst="roundRect">
            <a:avLst>
              <a:gd name="adj" fmla="val 8305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89550" y="4860131"/>
            <a:ext cx="6056503" cy="274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3"/>
              </a:lnSpc>
              <a:buNone/>
            </a:pPr>
            <a:r>
              <a:rPr lang="en-US" sz="1716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Onde olhar em 10 vezes</a:t>
            </a:r>
            <a:endParaRPr lang="en-US" sz="1716" dirty="0"/>
          </a:p>
        </p:txBody>
      </p:sp>
      <p:sp>
        <p:nvSpPr>
          <p:cNvPr id="15" name="Text 13"/>
          <p:cNvSpPr/>
          <p:nvPr/>
        </p:nvSpPr>
        <p:spPr>
          <a:xfrm>
            <a:off x="5289550" y="5160268"/>
            <a:ext cx="6056503" cy="497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2"/>
              </a:lnSpc>
              <a:buNone/>
            </a:pPr>
            <a:r>
              <a:rPr lang="en-US" sz="133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Cotas da Lambda, do STS e do KMS, todas ajustáveis. Medido na demo: ~250 ms por pedido.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09 / 16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RESILIÊNCIA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814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Como a solução reage a falhas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5566"/>
            <a:ext cx="3397250" cy="1574502"/>
          </a:xfrm>
          <a:prstGeom prst="roundRect">
            <a:avLst>
              <a:gd name="adj" fmla="val 6251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217341"/>
            <a:ext cx="3021711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Uma instância cai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2581771"/>
            <a:ext cx="3021711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há instância para cair. Lambda, API Gateway e Cognito são gerenciados e multi-AZ.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97375" y="1985566"/>
            <a:ext cx="3397250" cy="1574502"/>
          </a:xfrm>
          <a:prstGeom prst="roundRect">
            <a:avLst>
              <a:gd name="adj" fmla="val 6251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9150" y="2217341"/>
            <a:ext cx="3021711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Uma zona fica fora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29150" y="2581771"/>
            <a:ext cx="3021711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S3 Standard guarda os dados em três ou mais zonas, e os serviços regionais seguem atendendo.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78775" y="1985566"/>
            <a:ext cx="3397250" cy="1574502"/>
          </a:xfrm>
          <a:prstGeom prst="roundRect">
            <a:avLst>
              <a:gd name="adj" fmla="val 6251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0550" y="2217341"/>
            <a:ext cx="3021711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Pico ou URL expirada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10550" y="2581771"/>
            <a:ext cx="3021711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app tenta de novo com espera crescente e pede uma nova URL quando a anterior expira.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00" y="3817243"/>
            <a:ext cx="10566400" cy="1300000"/>
          </a:xfrm>
          <a:prstGeom prst="roundRect">
            <a:avLst>
              <a:gd name="adj" fmla="val 9617"/>
            </a:avLst>
          </a:prstGeom>
          <a:solidFill>
            <a:srgbClr val="0F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1041400" y="4045843"/>
            <a:ext cx="1041247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6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aplicação continua disponível?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41400" y="4396284"/>
            <a:ext cx="10412476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Sim, para falha de instância e de zona. Se a região cair, os dados seguem duráveis e a infraestrutura é recriada em ~2 min pelo CloudFormation. Réplica fora do Brasil exige base legal (LGPD).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10 / 16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SEGURANÇA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06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Identidade, dados e rede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3966"/>
            <a:ext cx="4692650" cy="1125041"/>
          </a:xfrm>
          <a:prstGeom prst="roundRect">
            <a:avLst>
              <a:gd name="adj" fmla="val 8749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2064941"/>
            <a:ext cx="4460621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Identidade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950" y="2365871"/>
            <a:ext cx="446062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Cognito emite o JWT. A Lambda lê o sub do token, nunca do corpo do pedido.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5975" y="3142357"/>
            <a:ext cx="4692650" cy="1125041"/>
          </a:xfrm>
          <a:prstGeom prst="roundRect">
            <a:avLst>
              <a:gd name="adj" fmla="val 8749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950" y="3323332"/>
            <a:ext cx="4460621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Dados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96950" y="3624263"/>
            <a:ext cx="446062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SSE-KMS, TLS obrigatório, Block Public Access e versioning.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975" y="4400748"/>
            <a:ext cx="4692650" cy="1125041"/>
          </a:xfrm>
          <a:prstGeom prst="roundRect">
            <a:avLst>
              <a:gd name="adj" fmla="val 8749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950" y="4581723"/>
            <a:ext cx="4460621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96950" y="4882654"/>
            <a:ext cx="446062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VPC de propósito. O controle está em IAM, bucket policy, TLS e throttling.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0" y="1880791"/>
            <a:ext cx="5664200" cy="3648174"/>
          </a:xfrm>
          <a:prstGeom prst="roundRect">
            <a:avLst>
              <a:gd name="adj" fmla="val 3481"/>
            </a:avLst>
          </a:prstGeom>
          <a:solidFill>
            <a:srgbClr val="0F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969000" y="2109391"/>
            <a:ext cx="531088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FF99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ISOLAMENTO POR CREDENCIAL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69000" y="2451001"/>
            <a:ext cx="531088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cada pedido a Lambda assume uma role com esta session policy. A URL só alcança o prefixo do usuário, mesmo com bug no código.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69000" y="3324523"/>
            <a:ext cx="5156200" cy="1036141"/>
          </a:xfrm>
          <a:prstGeom prst="roundRect">
            <a:avLst>
              <a:gd name="adj" fmla="val 7354"/>
            </a:avLst>
          </a:prstGeom>
          <a:solidFill>
            <a:srgbClr val="0A1D34"/>
          </a:solidFill>
          <a:ln/>
        </p:spPr>
        <p:txBody>
          <a:bodyPr wrap="square" lIns="130082" tIns="130082" rIns="0" bIns="104682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4F6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 "Effect": "Allow",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4F6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"Action": ["s3:GetObject", "s3:PutObject"],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4F6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"Resource": "arn:aws:s3:::xyz-docs/usuario-123/*" 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69000" y="4487664"/>
            <a:ext cx="53108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Mais kms:GenerateDataKey e kms:Decrypt na chave do bucket.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11 / 16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CUSTOS E OTIMIZAÇÃO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06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Quanto custa e onde economizamos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93491"/>
          <a:ext cx="6540500" cy="2155626"/>
        </p:xfrm>
        <a:graphic>
          <a:graphicData uri="http://schemas.openxmlformats.org/drawingml/2006/table">
            <a:tbl>
              <a:tblPr/>
              <a:tblGrid>
                <a:gridCol w="4578350"/>
                <a:gridCol w="1962150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 (por mês)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4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Estimativa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4E7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S3 Standard, 12 meses (600 GB)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US$ 24,30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Deep Archive, 3 anos (1,8 TB)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US$ 6,50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Transições de lifecycle (50 mil/mês)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US$ 5,00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GuardDuty, scan de 50 mil uploads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US$ 20,40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API, Lambda, Cognito, KMS e logs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US$ 2 a 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98144" y="4160000"/>
            <a:ext cx="6656832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lifecycle, o mesmo histórico custaria US$ 97 só de armazenamento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Archive custa 8% do Standard em São Paulo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GuardDuty sai por US$ 0,0004 por documento escaneado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569200" y="1880791"/>
            <a:ext cx="3810000" cy="2704405"/>
          </a:xfrm>
          <a:prstGeom prst="roundRect">
            <a:avLst>
              <a:gd name="adj" fmla="val 4696"/>
            </a:avLst>
          </a:prstGeom>
          <a:solidFill>
            <a:srgbClr val="0F2A4A"/>
          </a:solidFill>
          <a:ln/>
        </p:spPr>
      </p:sp>
      <p:sp>
        <p:nvSpPr>
          <p:cNvPr id="7" name="Text 4"/>
          <p:cNvSpPr/>
          <p:nvPr/>
        </p:nvSpPr>
        <p:spPr>
          <a:xfrm>
            <a:off x="7848600" y="2408138"/>
            <a:ext cx="334873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F99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≈ US$ 60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848600" y="3068538"/>
            <a:ext cx="334873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mês no 3º ano, em São Paulo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48600" y="3417788"/>
            <a:ext cx="334873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Premissas: 1 MB por documento, 50 mil por mês, sa-east-1. Preços da AWS Price List, set/2026.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12 / 16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BACKUP E RECUPERAÇÃO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814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Como proteger os dados e recuperar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5566"/>
            <a:ext cx="5175250" cy="2640211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242741"/>
            <a:ext cx="480072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Proteger os dados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51382" y="2661841"/>
            <a:ext cx="4714875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Versioning contra sobrescrita e exclusão</a:t>
            </a:r>
            <a:endParaRPr lang="en-US" sz="1400" dirty="0"/>
          </a:p>
          <a:p>
            <a:pPr algn="l" marL="175768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Versões antigas vão para Deep Archive, nunca são apagadas</a:t>
            </a:r>
            <a:endParaRPr lang="en-US" sz="1400" dirty="0"/>
          </a:p>
          <a:p>
            <a:pPr algn="l" marL="175768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Durabilidade de 11 noves no S3</a:t>
            </a:r>
            <a:endParaRPr lang="en-US" sz="1400" dirty="0"/>
          </a:p>
          <a:p>
            <a:pPr algn="l" marL="175768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Só o root exclui versões (política do bucket)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1985566"/>
            <a:ext cx="5175250" cy="2640211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950" y="2242741"/>
            <a:ext cx="480072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Recuperar a solução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6182" y="2661841"/>
            <a:ext cx="4714875" cy="173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Standard: acesso imediato</a:t>
            </a:r>
            <a:endParaRPr lang="en-US" sz="1400" dirty="0"/>
          </a:p>
          <a:p>
            <a:pPr algn="l" marL="175768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Archive: restore de cerca de 12 h, até 48 h em lote</a:t>
            </a:r>
            <a:endParaRPr lang="en-US" sz="1400" dirty="0"/>
          </a:p>
          <a:p>
            <a:pPr algn="l" marL="175768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Infraestrutura recriada pelo CloudFormation em ~2 min</a:t>
            </a:r>
            <a:endParaRPr lang="en-US" sz="1400" dirty="0"/>
          </a:p>
          <a:p>
            <a:pPr algn="l" marL="175768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Dados: RPO próximo de zero (gravação em 3+ zonas)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13 / 16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FF99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DEMONSTRAÇÃO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06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4F6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Mostrar funcionando, em seis passos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93491"/>
          <a:ext cx="10553700" cy="2514898"/>
        </p:xfrm>
        <a:graphic>
          <a:graphicData uri="http://schemas.openxmlformats.org/drawingml/2006/table">
            <a:tbl>
              <a:tblPr/>
              <a:tblGrid>
                <a:gridCol w="633222"/>
                <a:gridCol w="3588258"/>
                <a:gridCol w="6332220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65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65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B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Ação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5265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65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65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B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 que a banca vê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5265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65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65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B58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65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Login e chamada sem token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65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JWT do Cognito; sem token a API responde 401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65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Enviar o PDF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URL pré-assinada e gravação direta no S3 (204)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Pedir o arquivo de outro cliente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403 da aplicação: chave fora do prefixo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Repetir com a checagem desligada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403 AccessDenied do S3: a credencial do STS não alcança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Abrir documento antigo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409 arquivado em Deep Archive; restauração pedida (202)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Auditoria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CloudTrail e logs da API registram cada credencial e acesso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14 / 16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EVOLUÇÃO E VISÃO DE FUTURO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06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Como a solução evolui daqui a um ano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3966"/>
            <a:ext cx="3397250" cy="1150441"/>
          </a:xfrm>
          <a:prstGeom prst="roundRect">
            <a:avLst>
              <a:gd name="adj" fmla="val 8555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2064941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Imutabilidade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950" y="2391271"/>
            <a:ext cx="312635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 Lock para histórico à prova de exclusão.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7375" y="1883966"/>
            <a:ext cx="3397250" cy="1150441"/>
          </a:xfrm>
          <a:prstGeom prst="roundRect">
            <a:avLst>
              <a:gd name="adj" fmla="val 8555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8350" y="2064941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Réplica regional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8350" y="2391271"/>
            <a:ext cx="312635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Réplica fora do Brasil só com base legal (LGPD) e SLA que exija.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78775" y="1883966"/>
            <a:ext cx="3397250" cy="1150441"/>
          </a:xfrm>
          <a:prstGeom prst="roundRect">
            <a:avLst>
              <a:gd name="adj" fmla="val 8555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9750" y="2064941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IaC e CI/CD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59750" y="2391271"/>
            <a:ext cx="312635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CloudFormation já existe; o próximo passo é um pipeline de deploy.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218557"/>
            <a:ext cx="3397250" cy="1150441"/>
          </a:xfrm>
          <a:prstGeom prst="roundRect">
            <a:avLst>
              <a:gd name="adj" fmla="val 8555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950" y="3399532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Pipeline de IA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6950" y="3725863"/>
            <a:ext cx="312635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Fila SQS entre o upload e a extração, para absorver picos.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97375" y="3218557"/>
            <a:ext cx="3397250" cy="1150441"/>
          </a:xfrm>
          <a:prstGeom prst="roundRect">
            <a:avLst>
              <a:gd name="adj" fmla="val 8555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8350" y="3399532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8350" y="3725863"/>
            <a:ext cx="312635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Intelligent-Tiering e restore em lote para treino de IA.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78775" y="3218557"/>
            <a:ext cx="3397250" cy="1150441"/>
          </a:xfrm>
          <a:prstGeom prst="roundRect">
            <a:avLst>
              <a:gd name="adj" fmla="val 8555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59750" y="3399532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Privacidade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159750" y="3725863"/>
            <a:ext cx="312635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Macie para achar dados pessoais e treino em ambiente separado.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15 / 16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9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06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Problema, solução, benefícios e próximos passos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80791"/>
            <a:ext cx="5207000" cy="1034951"/>
          </a:xfrm>
          <a:prstGeom prst="roundRect">
            <a:avLst>
              <a:gd name="adj" fmla="val 9817"/>
            </a:avLst>
          </a:prstGeom>
          <a:solidFill>
            <a:srgbClr val="FFF1DC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033191"/>
            <a:ext cx="499694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0600" y="2317651"/>
            <a:ext cx="4996942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Guardar 50 mil documentos por mês sem gargalo, risco ou custo crescente.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880791"/>
            <a:ext cx="5207000" cy="1034951"/>
          </a:xfrm>
          <a:prstGeom prst="roundRect">
            <a:avLst>
              <a:gd name="adj" fmla="val 9817"/>
            </a:avLst>
          </a:prstGeom>
          <a:solidFill>
            <a:srgbClr val="FFF1DC"/>
          </a:solidFill>
          <a:ln/>
        </p:spPr>
      </p:sp>
      <p:sp>
        <p:nvSpPr>
          <p:cNvPr id="8" name="Text 6"/>
          <p:cNvSpPr/>
          <p:nvPr/>
        </p:nvSpPr>
        <p:spPr>
          <a:xfrm>
            <a:off x="6350000" y="2033191"/>
            <a:ext cx="499694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Solução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0000" y="2317651"/>
            <a:ext cx="4996942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Serverless na AWS, com URL pré-assinada, isolamento por credencial e lifecycle no S3.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00" y="3068141"/>
            <a:ext cx="5207000" cy="1034951"/>
          </a:xfrm>
          <a:prstGeom prst="roundRect">
            <a:avLst>
              <a:gd name="adj" fmla="val 9817"/>
            </a:avLst>
          </a:prstGeom>
          <a:solidFill>
            <a:srgbClr val="FFF1DC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3220541"/>
            <a:ext cx="499694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Benefícios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0600" y="3505002"/>
            <a:ext cx="4996942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Escala com o uso, cada cliente isolado e histórico preservado a custo baixo.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068141"/>
            <a:ext cx="5207000" cy="1034951"/>
          </a:xfrm>
          <a:prstGeom prst="roundRect">
            <a:avLst>
              <a:gd name="adj" fmla="val 9817"/>
            </a:avLst>
          </a:prstGeom>
          <a:solidFill>
            <a:srgbClr val="FFF1DC"/>
          </a:solidFill>
          <a:ln/>
        </p:spPr>
      </p:sp>
      <p:sp>
        <p:nvSpPr>
          <p:cNvPr id="14" name="Text 12"/>
          <p:cNvSpPr/>
          <p:nvPr/>
        </p:nvSpPr>
        <p:spPr>
          <a:xfrm>
            <a:off x="6350000" y="3220541"/>
            <a:ext cx="499694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Próximos passos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0000" y="3505002"/>
            <a:ext cx="4996942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 CI/CD, Object Lock e fila para o processamento de IA.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4306292"/>
            <a:ext cx="1088339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i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Projetamos uma estratégia de armazenamento orientada ao ciclo de vida do dado, onde segurança, isolamento, escala e custo fazem parte da própria arquitetura.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16 / 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TCC AWS: Arquitetura Startup XYZ</dc:title>
  <dc:subject>PptxGenJS Presentation</dc:subject>
  <dc:creator>PptxGenJS</dc:creator>
  <cp:lastModifiedBy>PptxGenJS</cp:lastModifiedBy>
  <cp:revision>1</cp:revision>
  <dcterms:created xsi:type="dcterms:W3CDTF">2026-09-30T00:24:59Z</dcterms:created>
  <dcterms:modified xsi:type="dcterms:W3CDTF">2026-09-30T00:24:59Z</dcterms:modified>
</cp:coreProperties>
</file>